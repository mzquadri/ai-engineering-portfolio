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AI Engineering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01</a:t>
            </a:r>
          </a:p>
        </p:txBody>
      </p:sp>
      <p:pic>
        <p:nvPicPr>
          <p:cNvPr id="4" name="Picture 3" descr="ai-engineering-architecture-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35240" cy="4294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Mohd Zamin Quadri — AI Engineer, BP-ITCS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Legal knowledge infrastructure · document intelligence · retrieval · verification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Four of five services implemented; three more extended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What was actually hard about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From legal source to trusted machine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8778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800"/>
              </a:spcAft>
              <a:defRPr sz="2000">
                <a:solidFill>
                  <a:srgbClr val="9FB0C3"/>
                </a:solidFill>
                <a:latin typeface="Segoe UI"/>
              </a:defRPr>
            </a:pPr>
            <a:r>
              <a:t>Authoritative law changes without telling you, in two unrelated XML markup families</a:t>
            </a:r>
          </a:p>
          <a:p>
            <a:pPr>
              <a:lnSpc>
                <a:spcPct val="128000"/>
              </a:lnSpc>
              <a:spcAft>
                <a:spcPts val="1800"/>
              </a:spcAft>
              <a:defRPr sz="2000">
                <a:solidFill>
                  <a:srgbClr val="9FB0C3"/>
                </a:solidFill>
                <a:latin typeface="Segoe UI"/>
              </a:defRPr>
            </a:pPr>
            <a:r>
              <a:t>Extract it for retrieval and you hold three representations that can each drift from the source</a:t>
            </a:r>
          </a:p>
          <a:p>
            <a:pPr>
              <a:lnSpc>
                <a:spcPct val="128000"/>
              </a:lnSpc>
              <a:spcAft>
                <a:spcPts val="1800"/>
              </a:spcAft>
              <a:defRPr sz="2000">
                <a:solidFill>
                  <a:srgbClr val="9FB0C3"/>
                </a:solidFill>
                <a:latin typeface="Segoe UI"/>
              </a:defRPr>
            </a:pPr>
            <a:r>
              <a:t>So the problem was provenance and operational control — not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How does it fit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End-to-end legal knowledge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03</a:t>
            </a:r>
          </a:p>
        </p:txBody>
      </p:sp>
      <p:pic>
        <p:nvPicPr>
          <p:cNvPr id="5" name="Picture 4" descr="02-legal-knowledge-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35240" cy="4477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Five services: a three-stage ingestion pipeline, plus a two-part control plane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Three Kafka topics; one law maps to one partition, so generations cannot race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Exactly one service writes each store — enforced by deleting the path that violated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What happens to one law?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Source → trusted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04</a:t>
            </a:r>
          </a:p>
        </p:txBody>
      </p:sp>
      <p:pic>
        <p:nvPicPr>
          <p:cNvPr id="5" name="Picture 4" descr="04-source-to-trusted-cor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35240" cy="26961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Bytes are hashed before anything interprets them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The structural denominator is built independently of the parser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law.structured means PostgreSQL only; law.embedded is the completion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How do you know it is right?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Verification and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05</a:t>
            </a:r>
          </a:p>
        </p:txBody>
      </p:sp>
      <p:pic>
        <p:nvPicPr>
          <p:cNvPr id="5" name="Picture 4" descr="17-verification-ess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35240" cy="2807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14 gates; 7 required for the badge, all 14 recorded and shown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The prover proves itself first, or issues no verdict for any law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A count matching is not proof — and the diagram says 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How is a question answered?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The query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06</a:t>
            </a:r>
          </a:p>
        </p:txBody>
      </p:sp>
      <p:pic>
        <p:nvPicPr>
          <p:cNvPr id="5" name="Picture 4" descr="07-rag-quer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35240" cy="34636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BGE-M3 dense + sparse in one pass, fused server-side by RRF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Citations travel as payload, not as generated prose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The loader refuses a whole law rather than store a truncated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What happens when it breaks?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Failure, recovery and operational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07</a:t>
            </a:r>
          </a:p>
        </p:txBody>
      </p:sp>
      <p:pic>
        <p:nvPicPr>
          <p:cNvPr id="5" name="Picture 4" descr="15-document-state-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35240" cy="35273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Fifteen documented failures, each with its recovery — or the statement that none exists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Redelivery is safe because identity is derived, never generated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No dead-letter topic on the legal pipeline: stated as a gap, not hidden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What else runs on the platform?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08</a:t>
            </a:r>
          </a:p>
        </p:txBody>
      </p:sp>
      <p:pic>
        <p:nvPicPr>
          <p:cNvPr id="5" name="Picture 4" descr="10-insurance-document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6562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Docling conversion, then template-driven LLM field extraction with post-validation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A template is the extraction contract, not the model — six document types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Hardened against real documents: rebuilt regexes, umlaut repair, replacement-character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Is there computer vision too?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Chest X-ray classification — a research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09</a:t>
            </a:r>
          </a:p>
        </p:txBody>
      </p:sp>
      <p:pic>
        <p:nvPicPr>
          <p:cNvPr id="5" name="Picture 4" descr="18-ai-radi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266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Internal project name “AI Radiologist” — not a medical device, not clinically deployed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DenseNet-121 over five findings, sigmoid per class — a study can show several at once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One calibrated threshold per finding (Youden's J), plus ICD-10 and an urgency band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Grad-CAM++ attribution, with anatomical priors built and then deliberately switched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What is all of it actually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AI Compliance — the product the corpus serves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10</a:t>
            </a:r>
          </a:p>
        </p:txBody>
      </p:sp>
      <p:pic>
        <p:nvPicPr>
          <p:cNvPr id="5" name="Picture 4" descr="19-ai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35240" cy="42033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A questionnaire plus a headless-browser site scan become a grounded, cited compliance report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A report that cites a drifted provision is confidently wrong — which is why the corpus is verified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The product is a colleague's work; I built the corpus and the service the questionnaire path runs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What did you personally build?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What I built, and what I did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11</a:t>
            </a:r>
          </a:p>
        </p:txBody>
      </p:sp>
      <p:pic>
        <p:nvPicPr>
          <p:cNvPr id="5" name="Picture 4" descr="12-my-con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927238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Primary: preprocessor, loader, health service, dashboard — four of the system's five services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Significant: entity producer, document extractor, indexing service (which I created), ai-utils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Not mine: the Java entity platform, the RAG service, the chatbot, every third-party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What would you do differently?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0">
                <a:solidFill>
                  <a:srgbClr val="E8EEF6"/>
                </a:solidFill>
                <a:latin typeface="Georgia"/>
              </a:defRPr>
            </a:pPr>
            <a:r>
              <a:t>Engineering lessons and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7B91"/>
                </a:solidFill>
              </a:defRPr>
            </a:pPr>
            <a:r>
              <a:t>12</a:t>
            </a:r>
          </a:p>
        </p:txBody>
      </p:sp>
      <p:pic>
        <p:nvPicPr>
          <p:cNvPr id="5" name="Picture 4" descr="13-interview-system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635240" cy="34915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64592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Keep: one writer per store; derive identity; refuse rather than approximate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Change: add a dead-letter path; generate the gate list once; content-address the captures</a:t>
            </a:r>
          </a:p>
          <a:p>
            <a:pPr>
              <a:lnSpc>
                <a:spcPct val="128000"/>
              </a:lnSpc>
              <a:spcAft>
                <a:spcPts val="1500"/>
              </a:spcAft>
              <a:defRPr sz="1600">
                <a:solidFill>
                  <a:srgbClr val="9FB0C3"/>
                </a:solidFill>
                <a:latin typeface="Segoe UI"/>
              </a:defRPr>
            </a:pPr>
            <a:r>
              <a:t>The lesson: a measurement nobody can falsify is not a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B91"/>
                </a:solidFill>
                <a:latin typeface="Segoe UI"/>
              </a:defRPr>
            </a:pPr>
            <a:r>
              <a:t>Mohd Zamin Quadri  ·  AI Engineer  ·  BP-ITCS   —   every claim traceable to a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